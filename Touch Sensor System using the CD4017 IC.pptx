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426" autoAdjust="0"/>
    <p:restoredTop sz="94660"/>
  </p:normalViewPr>
  <p:slideViewPr>
    <p:cSldViewPr>
      <p:cViewPr varScale="1">
        <p:scale>
          <a:sx n="69" d="100"/>
          <a:sy n="69" d="100"/>
        </p:scale>
        <p:origin x="2083" y="29"/>
      </p:cViewPr>
      <p:guideLst>
        <p:guide orient="horz" pos="2880"/>
        <p:guide pos="2160"/>
      </p:guideLst>
    </p:cSldViewPr>
  </p:slideViewPr>
  <p:notesTextViewPr>
    <p:cViewPr>
      <p:scale>
        <a:sx n="20" d="100"/>
        <a:sy n="2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804D3497-69F4-4096-AAB7-7BE39354AA92}" type="datetimeFigureOut">
              <a:rPr lang="en-IN" smtClean="0"/>
              <a:t>25-10-2024</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3B0EAE64-95E7-4878-8D89-FCCE07EB8964}" type="slidenum">
              <a:rPr lang="en-IN" smtClean="0"/>
              <a:t>‹#›</a:t>
            </a:fld>
            <a:endParaRPr lang="en-IN"/>
          </a:p>
        </p:txBody>
      </p:sp>
    </p:spTree>
    <p:extLst>
      <p:ext uri="{BB962C8B-B14F-4D97-AF65-F5344CB8AC3E}">
        <p14:creationId xmlns:p14="http://schemas.microsoft.com/office/powerpoint/2010/main" val="1304523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B0EAE64-95E7-4878-8D89-FCCE07EB8964}" type="slidenum">
              <a:rPr lang="en-IN" smtClean="0"/>
              <a:t>1</a:t>
            </a:fld>
            <a:endParaRPr lang="en-IN"/>
          </a:p>
        </p:txBody>
      </p:sp>
    </p:spTree>
    <p:extLst>
      <p:ext uri="{BB962C8B-B14F-4D97-AF65-F5344CB8AC3E}">
        <p14:creationId xmlns:p14="http://schemas.microsoft.com/office/powerpoint/2010/main" val="544789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F3F3F"/>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F3F3F"/>
                </a:solidFill>
                <a:latin typeface="Times New Roman"/>
                <a:cs typeface="Times New Roman"/>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F3F3F"/>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10/25/2024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14300"/>
            <a:ext cx="10058400" cy="7543800"/>
          </a:xfrm>
          <a:custGeom>
            <a:avLst/>
            <a:gdLst/>
            <a:ahLst/>
            <a:cxnLst/>
            <a:rect l="l" t="t" r="r" b="b"/>
            <a:pathLst>
              <a:path w="10058400" h="7543800">
                <a:moveTo>
                  <a:pt x="10058400" y="7543800"/>
                </a:moveTo>
                <a:lnTo>
                  <a:pt x="0" y="7543800"/>
                </a:lnTo>
                <a:lnTo>
                  <a:pt x="0" y="0"/>
                </a:lnTo>
                <a:lnTo>
                  <a:pt x="10058400" y="0"/>
                </a:lnTo>
                <a:lnTo>
                  <a:pt x="10058400" y="7543800"/>
                </a:lnTo>
                <a:close/>
              </a:path>
            </a:pathLst>
          </a:custGeom>
          <a:solidFill>
            <a:srgbClr val="EBEBEB"/>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4524755"/>
            <a:ext cx="499872" cy="3133343"/>
          </a:xfrm>
          <a:prstGeom prst="rect">
            <a:avLst/>
          </a:prstGeom>
        </p:spPr>
      </p:pic>
      <p:pic>
        <p:nvPicPr>
          <p:cNvPr id="18" name="bg object 18"/>
          <p:cNvPicPr/>
          <p:nvPr/>
        </p:nvPicPr>
        <p:blipFill>
          <a:blip r:embed="rId8" cstate="print"/>
          <a:stretch>
            <a:fillRect/>
          </a:stretch>
        </p:blipFill>
        <p:spPr>
          <a:xfrm>
            <a:off x="5637276" y="114300"/>
            <a:ext cx="4421123" cy="7543800"/>
          </a:xfrm>
          <a:prstGeom prst="rect">
            <a:avLst/>
          </a:prstGeom>
        </p:spPr>
      </p:pic>
      <p:sp>
        <p:nvSpPr>
          <p:cNvPr id="19" name="bg object 19"/>
          <p:cNvSpPr/>
          <p:nvPr/>
        </p:nvSpPr>
        <p:spPr>
          <a:xfrm>
            <a:off x="5033771" y="1543812"/>
            <a:ext cx="2522220" cy="5844540"/>
          </a:xfrm>
          <a:custGeom>
            <a:avLst/>
            <a:gdLst/>
            <a:ahLst/>
            <a:cxnLst/>
            <a:rect l="l" t="t" r="r" b="b"/>
            <a:pathLst>
              <a:path w="2522220" h="5844540">
                <a:moveTo>
                  <a:pt x="2522220" y="5844539"/>
                </a:moveTo>
                <a:lnTo>
                  <a:pt x="0" y="5844539"/>
                </a:lnTo>
                <a:lnTo>
                  <a:pt x="0" y="0"/>
                </a:lnTo>
                <a:lnTo>
                  <a:pt x="2522220" y="0"/>
                </a:lnTo>
                <a:lnTo>
                  <a:pt x="2522220" y="5844539"/>
                </a:lnTo>
                <a:close/>
              </a:path>
            </a:pathLst>
          </a:custGeom>
          <a:solidFill>
            <a:srgbClr val="BFE9F9"/>
          </a:solidFill>
        </p:spPr>
        <p:txBody>
          <a:bodyPr wrap="square" lIns="0" tIns="0" rIns="0" bIns="0" rtlCol="0"/>
          <a:lstStyle/>
          <a:p>
            <a:endParaRPr/>
          </a:p>
        </p:txBody>
      </p:sp>
      <p:sp>
        <p:nvSpPr>
          <p:cNvPr id="20" name="bg object 20"/>
          <p:cNvSpPr/>
          <p:nvPr/>
        </p:nvSpPr>
        <p:spPr>
          <a:xfrm>
            <a:off x="5033771" y="1543812"/>
            <a:ext cx="2522220" cy="5844540"/>
          </a:xfrm>
          <a:custGeom>
            <a:avLst/>
            <a:gdLst/>
            <a:ahLst/>
            <a:cxnLst/>
            <a:rect l="l" t="t" r="r" b="b"/>
            <a:pathLst>
              <a:path w="2522220" h="5844540">
                <a:moveTo>
                  <a:pt x="0" y="0"/>
                </a:moveTo>
                <a:lnTo>
                  <a:pt x="2522220" y="0"/>
                </a:lnTo>
                <a:lnTo>
                  <a:pt x="2522220" y="5844539"/>
                </a:lnTo>
                <a:lnTo>
                  <a:pt x="0" y="5844539"/>
                </a:lnTo>
                <a:lnTo>
                  <a:pt x="0" y="0"/>
                </a:lnTo>
                <a:close/>
              </a:path>
            </a:pathLst>
          </a:custGeom>
          <a:ln w="13716">
            <a:solidFill>
              <a:srgbClr val="0070BF"/>
            </a:solidFill>
          </a:ln>
        </p:spPr>
        <p:txBody>
          <a:bodyPr wrap="square" lIns="0" tIns="0" rIns="0" bIns="0" rtlCol="0"/>
          <a:lstStyle/>
          <a:p>
            <a:endParaRPr/>
          </a:p>
        </p:txBody>
      </p:sp>
      <p:pic>
        <p:nvPicPr>
          <p:cNvPr id="21" name="bg object 21"/>
          <p:cNvPicPr/>
          <p:nvPr/>
        </p:nvPicPr>
        <p:blipFill>
          <a:blip r:embed="rId9" cstate="print"/>
          <a:stretch>
            <a:fillRect/>
          </a:stretch>
        </p:blipFill>
        <p:spPr>
          <a:xfrm>
            <a:off x="0" y="243839"/>
            <a:ext cx="1645920" cy="922020"/>
          </a:xfrm>
          <a:prstGeom prst="rect">
            <a:avLst/>
          </a:prstGeom>
        </p:spPr>
      </p:pic>
      <p:sp>
        <p:nvSpPr>
          <p:cNvPr id="2" name="Holder 2"/>
          <p:cNvSpPr>
            <a:spLocks noGrp="1"/>
          </p:cNvSpPr>
          <p:nvPr>
            <p:ph type="title"/>
          </p:nvPr>
        </p:nvSpPr>
        <p:spPr>
          <a:xfrm>
            <a:off x="2084304" y="81817"/>
            <a:ext cx="6474459" cy="375284"/>
          </a:xfrm>
          <a:prstGeom prst="rect">
            <a:avLst/>
          </a:prstGeom>
        </p:spPr>
        <p:txBody>
          <a:bodyPr wrap="square" lIns="0" tIns="0" rIns="0" bIns="0">
            <a:spAutoFit/>
          </a:bodyPr>
          <a:lstStyle>
            <a:lvl1pPr>
              <a:defRPr sz="2300" b="1" i="0">
                <a:solidFill>
                  <a:srgbClr val="3F3F3F"/>
                </a:solidFill>
                <a:latin typeface="Times New Roman"/>
                <a:cs typeface="Times New Roman"/>
              </a:defRPr>
            </a:lvl1pPr>
          </a:lstStyle>
          <a:p>
            <a:endParaRPr/>
          </a:p>
        </p:txBody>
      </p:sp>
      <p:sp>
        <p:nvSpPr>
          <p:cNvPr id="3" name="Holder 3"/>
          <p:cNvSpPr>
            <a:spLocks noGrp="1"/>
          </p:cNvSpPr>
          <p:nvPr>
            <p:ph type="body" idx="1"/>
          </p:nvPr>
        </p:nvSpPr>
        <p:spPr>
          <a:xfrm>
            <a:off x="502920" y="1787652"/>
            <a:ext cx="9052560"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10/25/2024</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84304" y="81817"/>
            <a:ext cx="6474459" cy="1073371"/>
          </a:xfrm>
          <a:prstGeom prst="rect">
            <a:avLst/>
          </a:prstGeom>
        </p:spPr>
        <p:txBody>
          <a:bodyPr vert="horz" wrap="square" lIns="0" tIns="11430" rIns="0" bIns="0" rtlCol="0">
            <a:spAutoFit/>
          </a:bodyPr>
          <a:lstStyle/>
          <a:p>
            <a:pPr marL="12700" algn="ctr">
              <a:lnSpc>
                <a:spcPct val="100000"/>
              </a:lnSpc>
              <a:spcBef>
                <a:spcPts val="90"/>
              </a:spcBef>
            </a:pPr>
            <a:r>
              <a:rPr lang="en-US" spc="-5" dirty="0"/>
              <a:t>Touch sensor using cd4017 </a:t>
            </a:r>
            <a:r>
              <a:rPr lang="en-US" spc="-5" dirty="0" err="1"/>
              <a:t>ic</a:t>
            </a:r>
            <a:br>
              <a:rPr lang="en-US" spc="-5" dirty="0"/>
            </a:br>
            <a:r>
              <a:rPr lang="en-US" spc="-5" dirty="0"/>
              <a:t> </a:t>
            </a:r>
            <a:br>
              <a:rPr lang="en-US" spc="-5" dirty="0"/>
            </a:br>
            <a:endParaRPr spc="-5" dirty="0"/>
          </a:p>
        </p:txBody>
      </p:sp>
      <p:sp>
        <p:nvSpPr>
          <p:cNvPr id="3" name="object 3"/>
          <p:cNvSpPr txBox="1"/>
          <p:nvPr/>
        </p:nvSpPr>
        <p:spPr>
          <a:xfrm>
            <a:off x="1125712" y="435374"/>
            <a:ext cx="8391525" cy="1050929"/>
          </a:xfrm>
          <a:prstGeom prst="rect">
            <a:avLst/>
          </a:prstGeom>
        </p:spPr>
        <p:txBody>
          <a:bodyPr vert="horz" wrap="square" lIns="0" tIns="12065" rIns="0" bIns="0" rtlCol="0">
            <a:spAutoFit/>
          </a:bodyPr>
          <a:lstStyle/>
          <a:p>
            <a:pPr algn="ctr">
              <a:lnSpc>
                <a:spcPct val="100000"/>
              </a:lnSpc>
              <a:spcBef>
                <a:spcPts val="35"/>
              </a:spcBef>
            </a:pPr>
            <a:r>
              <a:rPr lang="en-US" sz="1350" spc="10" dirty="0" err="1">
                <a:latin typeface="Times New Roman"/>
                <a:cs typeface="Times New Roman"/>
              </a:rPr>
              <a:t>Abhinanth.M</a:t>
            </a:r>
            <a:r>
              <a:rPr lang="en-US" sz="1350" spc="10" dirty="0">
                <a:latin typeface="Times New Roman"/>
                <a:cs typeface="Times New Roman"/>
              </a:rPr>
              <a:t>(RA2311053010148)</a:t>
            </a:r>
          </a:p>
          <a:p>
            <a:pPr algn="ctr">
              <a:lnSpc>
                <a:spcPct val="100000"/>
              </a:lnSpc>
              <a:spcBef>
                <a:spcPts val="35"/>
              </a:spcBef>
            </a:pPr>
            <a:r>
              <a:rPr lang="en-US" sz="1350" spc="10" dirty="0" err="1">
                <a:latin typeface="Times New Roman"/>
                <a:cs typeface="Times New Roman"/>
              </a:rPr>
              <a:t>Keshav.b</a:t>
            </a:r>
            <a:r>
              <a:rPr lang="en-US" sz="1350" spc="10" dirty="0">
                <a:latin typeface="Times New Roman"/>
                <a:cs typeface="Times New Roman"/>
              </a:rPr>
              <a:t>(RA2311053010144)</a:t>
            </a:r>
          </a:p>
          <a:p>
            <a:pPr algn="ctr">
              <a:lnSpc>
                <a:spcPct val="100000"/>
              </a:lnSpc>
              <a:spcBef>
                <a:spcPts val="35"/>
              </a:spcBef>
            </a:pPr>
            <a:r>
              <a:rPr lang="en-US" sz="1350" spc="10" dirty="0" err="1">
                <a:latin typeface="Times New Roman"/>
                <a:cs typeface="Times New Roman"/>
              </a:rPr>
              <a:t>Adorn.B</a:t>
            </a:r>
            <a:r>
              <a:rPr lang="en-US" sz="1350" spc="10" dirty="0">
                <a:latin typeface="Times New Roman"/>
                <a:cs typeface="Times New Roman"/>
              </a:rPr>
              <a:t>(EA2311053010149)</a:t>
            </a:r>
          </a:p>
          <a:p>
            <a:pPr algn="ctr">
              <a:lnSpc>
                <a:spcPct val="100000"/>
              </a:lnSpc>
              <a:spcBef>
                <a:spcPts val="35"/>
              </a:spcBef>
            </a:pPr>
            <a:r>
              <a:rPr sz="1350" spc="10" dirty="0">
                <a:latin typeface="Times New Roman"/>
                <a:cs typeface="Times New Roman"/>
              </a:rPr>
              <a:t>Under</a:t>
            </a:r>
            <a:r>
              <a:rPr sz="1350" spc="-5" dirty="0">
                <a:latin typeface="Times New Roman"/>
                <a:cs typeface="Times New Roman"/>
              </a:rPr>
              <a:t> </a:t>
            </a:r>
            <a:r>
              <a:rPr sz="1350" spc="10" dirty="0">
                <a:latin typeface="Times New Roman"/>
                <a:cs typeface="Times New Roman"/>
              </a:rPr>
              <a:t>the</a:t>
            </a:r>
            <a:r>
              <a:rPr sz="1350" spc="-5" dirty="0">
                <a:latin typeface="Times New Roman"/>
                <a:cs typeface="Times New Roman"/>
              </a:rPr>
              <a:t> </a:t>
            </a:r>
            <a:r>
              <a:rPr sz="1350" spc="10" dirty="0">
                <a:latin typeface="Times New Roman"/>
                <a:cs typeface="Times New Roman"/>
              </a:rPr>
              <a:t>Guidance</a:t>
            </a:r>
            <a:r>
              <a:rPr sz="1350" spc="-20" dirty="0">
                <a:latin typeface="Times New Roman"/>
                <a:cs typeface="Times New Roman"/>
              </a:rPr>
              <a:t> </a:t>
            </a:r>
            <a:r>
              <a:rPr sz="1350" spc="15" dirty="0">
                <a:latin typeface="Times New Roman"/>
                <a:cs typeface="Times New Roman"/>
              </a:rPr>
              <a:t>of</a:t>
            </a:r>
            <a:r>
              <a:rPr sz="1350" spc="325" dirty="0">
                <a:latin typeface="Times New Roman"/>
                <a:cs typeface="Times New Roman"/>
              </a:rPr>
              <a:t> </a:t>
            </a:r>
            <a:r>
              <a:rPr sz="1350" b="1" spc="5" dirty="0">
                <a:latin typeface="Times New Roman"/>
                <a:cs typeface="Times New Roman"/>
              </a:rPr>
              <a:t>Dr.A.Lavanya</a:t>
            </a:r>
            <a:endParaRPr sz="1350" dirty="0">
              <a:latin typeface="Times New Roman"/>
              <a:cs typeface="Times New Roman"/>
            </a:endParaRPr>
          </a:p>
          <a:p>
            <a:pPr algn="ctr">
              <a:lnSpc>
                <a:spcPct val="100000"/>
              </a:lnSpc>
            </a:pPr>
            <a:r>
              <a:rPr sz="1350" spc="10" dirty="0">
                <a:latin typeface="Times New Roman"/>
                <a:cs typeface="Times New Roman"/>
              </a:rPr>
              <a:t>Department</a:t>
            </a:r>
            <a:r>
              <a:rPr sz="1350" spc="20" dirty="0">
                <a:latin typeface="Times New Roman"/>
                <a:cs typeface="Times New Roman"/>
              </a:rPr>
              <a:t> </a:t>
            </a:r>
            <a:r>
              <a:rPr sz="1350" spc="10" dirty="0">
                <a:latin typeface="Times New Roman"/>
                <a:cs typeface="Times New Roman"/>
              </a:rPr>
              <a:t>of Electronics</a:t>
            </a:r>
            <a:r>
              <a:rPr sz="1350" dirty="0">
                <a:latin typeface="Times New Roman"/>
                <a:cs typeface="Times New Roman"/>
              </a:rPr>
              <a:t> </a:t>
            </a:r>
            <a:r>
              <a:rPr sz="1350" spc="10" dirty="0">
                <a:latin typeface="Times New Roman"/>
                <a:cs typeface="Times New Roman"/>
              </a:rPr>
              <a:t>and</a:t>
            </a:r>
            <a:r>
              <a:rPr sz="1350" spc="20" dirty="0">
                <a:latin typeface="Times New Roman"/>
                <a:cs typeface="Times New Roman"/>
              </a:rPr>
              <a:t> </a:t>
            </a:r>
            <a:r>
              <a:rPr sz="1350" spc="10" dirty="0">
                <a:latin typeface="Times New Roman"/>
                <a:cs typeface="Times New Roman"/>
              </a:rPr>
              <a:t>Communication</a:t>
            </a:r>
            <a:r>
              <a:rPr sz="1350" spc="-15" dirty="0">
                <a:latin typeface="Times New Roman"/>
                <a:cs typeface="Times New Roman"/>
              </a:rPr>
              <a:t> </a:t>
            </a:r>
            <a:r>
              <a:rPr sz="1350" spc="10" dirty="0">
                <a:latin typeface="Times New Roman"/>
                <a:cs typeface="Times New Roman"/>
              </a:rPr>
              <a:t>Engineering,</a:t>
            </a:r>
            <a:r>
              <a:rPr sz="1350" spc="-15" dirty="0">
                <a:latin typeface="Times New Roman"/>
                <a:cs typeface="Times New Roman"/>
              </a:rPr>
              <a:t> </a:t>
            </a:r>
            <a:r>
              <a:rPr sz="1350" spc="15" dirty="0">
                <a:latin typeface="Times New Roman"/>
                <a:cs typeface="Times New Roman"/>
              </a:rPr>
              <a:t>SRM </a:t>
            </a:r>
            <a:r>
              <a:rPr sz="1350" spc="5" dirty="0">
                <a:latin typeface="Times New Roman"/>
                <a:cs typeface="Times New Roman"/>
              </a:rPr>
              <a:t>Institute</a:t>
            </a:r>
            <a:r>
              <a:rPr sz="1350" spc="-5" dirty="0">
                <a:latin typeface="Times New Roman"/>
                <a:cs typeface="Times New Roman"/>
              </a:rPr>
              <a:t> </a:t>
            </a:r>
            <a:r>
              <a:rPr sz="1350" spc="15" dirty="0">
                <a:latin typeface="Times New Roman"/>
                <a:cs typeface="Times New Roman"/>
              </a:rPr>
              <a:t>of</a:t>
            </a:r>
            <a:r>
              <a:rPr sz="1350" spc="10" dirty="0">
                <a:latin typeface="Times New Roman"/>
                <a:cs typeface="Times New Roman"/>
              </a:rPr>
              <a:t> Science</a:t>
            </a:r>
            <a:r>
              <a:rPr sz="1350" spc="15" dirty="0">
                <a:latin typeface="Times New Roman"/>
                <a:cs typeface="Times New Roman"/>
              </a:rPr>
              <a:t> </a:t>
            </a:r>
            <a:r>
              <a:rPr sz="1350" spc="10" dirty="0">
                <a:latin typeface="Times New Roman"/>
                <a:cs typeface="Times New Roman"/>
              </a:rPr>
              <a:t>and</a:t>
            </a:r>
            <a:r>
              <a:rPr sz="1350" spc="-15" dirty="0">
                <a:latin typeface="Times New Roman"/>
                <a:cs typeface="Times New Roman"/>
              </a:rPr>
              <a:t> </a:t>
            </a:r>
            <a:r>
              <a:rPr sz="1350" spc="-5" dirty="0">
                <a:latin typeface="Times New Roman"/>
                <a:cs typeface="Times New Roman"/>
              </a:rPr>
              <a:t>Technology,</a:t>
            </a:r>
            <a:r>
              <a:rPr sz="1350" spc="-15" dirty="0">
                <a:latin typeface="Times New Roman"/>
                <a:cs typeface="Times New Roman"/>
              </a:rPr>
              <a:t> </a:t>
            </a:r>
            <a:r>
              <a:rPr sz="1350" spc="10" dirty="0">
                <a:latin typeface="Times New Roman"/>
                <a:cs typeface="Times New Roman"/>
              </a:rPr>
              <a:t>Kattankulathur</a:t>
            </a:r>
            <a:endParaRPr sz="1350" dirty="0">
              <a:latin typeface="Times New Roman"/>
              <a:cs typeface="Times New Roman"/>
            </a:endParaRPr>
          </a:p>
        </p:txBody>
      </p:sp>
      <p:grpSp>
        <p:nvGrpSpPr>
          <p:cNvPr id="4" name="object 4"/>
          <p:cNvGrpSpPr/>
          <p:nvPr/>
        </p:nvGrpSpPr>
        <p:grpSpPr>
          <a:xfrm>
            <a:off x="18287" y="1548382"/>
            <a:ext cx="5061204" cy="6142201"/>
            <a:chOff x="18287" y="1548383"/>
            <a:chExt cx="4948556" cy="5847842"/>
          </a:xfrm>
        </p:grpSpPr>
        <p:sp>
          <p:nvSpPr>
            <p:cNvPr id="5" name="object 5"/>
            <p:cNvSpPr/>
            <p:nvPr/>
          </p:nvSpPr>
          <p:spPr>
            <a:xfrm>
              <a:off x="2517648" y="1552955"/>
              <a:ext cx="2449195" cy="5843270"/>
            </a:xfrm>
            <a:custGeom>
              <a:avLst/>
              <a:gdLst/>
              <a:ahLst/>
              <a:cxnLst/>
              <a:rect l="l" t="t" r="r" b="b"/>
              <a:pathLst>
                <a:path w="2449195" h="5843270">
                  <a:moveTo>
                    <a:pt x="2449067" y="5843015"/>
                  </a:moveTo>
                  <a:lnTo>
                    <a:pt x="0" y="5843015"/>
                  </a:lnTo>
                  <a:lnTo>
                    <a:pt x="0" y="0"/>
                  </a:lnTo>
                  <a:lnTo>
                    <a:pt x="2449067" y="0"/>
                  </a:lnTo>
                  <a:lnTo>
                    <a:pt x="2449067" y="5843015"/>
                  </a:lnTo>
                  <a:close/>
                </a:path>
              </a:pathLst>
            </a:custGeom>
            <a:solidFill>
              <a:srgbClr val="BFE9F9"/>
            </a:solidFill>
          </p:spPr>
          <p:txBody>
            <a:bodyPr wrap="square" lIns="0" tIns="0" rIns="0" bIns="0" rtlCol="0"/>
            <a:lstStyle/>
            <a:p>
              <a:endParaRPr/>
            </a:p>
          </p:txBody>
        </p:sp>
        <p:sp>
          <p:nvSpPr>
            <p:cNvPr id="6" name="object 6"/>
            <p:cNvSpPr/>
            <p:nvPr/>
          </p:nvSpPr>
          <p:spPr>
            <a:xfrm>
              <a:off x="2517648" y="1552955"/>
              <a:ext cx="2449195" cy="5843270"/>
            </a:xfrm>
            <a:custGeom>
              <a:avLst/>
              <a:gdLst/>
              <a:ahLst/>
              <a:cxnLst/>
              <a:rect l="l" t="t" r="r" b="b"/>
              <a:pathLst>
                <a:path w="2449195" h="5843270">
                  <a:moveTo>
                    <a:pt x="0" y="0"/>
                  </a:moveTo>
                  <a:lnTo>
                    <a:pt x="2449067" y="0"/>
                  </a:lnTo>
                  <a:lnTo>
                    <a:pt x="2449067" y="5843015"/>
                  </a:lnTo>
                  <a:lnTo>
                    <a:pt x="0" y="5843015"/>
                  </a:lnTo>
                  <a:lnTo>
                    <a:pt x="0" y="0"/>
                  </a:lnTo>
                  <a:close/>
                </a:path>
              </a:pathLst>
            </a:custGeom>
            <a:ln w="13716">
              <a:solidFill>
                <a:srgbClr val="0070BF"/>
              </a:solidFill>
            </a:ln>
          </p:spPr>
          <p:txBody>
            <a:bodyPr wrap="square" lIns="0" tIns="0" rIns="0" bIns="0" rtlCol="0"/>
            <a:lstStyle/>
            <a:p>
              <a:endParaRPr dirty="0"/>
            </a:p>
          </p:txBody>
        </p:sp>
        <p:sp>
          <p:nvSpPr>
            <p:cNvPr id="7" name="object 7"/>
            <p:cNvSpPr/>
            <p:nvPr/>
          </p:nvSpPr>
          <p:spPr>
            <a:xfrm>
              <a:off x="18287" y="1548383"/>
              <a:ext cx="2463165" cy="5843270"/>
            </a:xfrm>
            <a:custGeom>
              <a:avLst/>
              <a:gdLst/>
              <a:ahLst/>
              <a:cxnLst/>
              <a:rect l="l" t="t" r="r" b="b"/>
              <a:pathLst>
                <a:path w="2463165" h="5843270">
                  <a:moveTo>
                    <a:pt x="2462784" y="5843016"/>
                  </a:moveTo>
                  <a:lnTo>
                    <a:pt x="0" y="5843016"/>
                  </a:lnTo>
                  <a:lnTo>
                    <a:pt x="0" y="0"/>
                  </a:lnTo>
                  <a:lnTo>
                    <a:pt x="2462784" y="0"/>
                  </a:lnTo>
                  <a:lnTo>
                    <a:pt x="2462784" y="5843016"/>
                  </a:lnTo>
                  <a:close/>
                </a:path>
              </a:pathLst>
            </a:custGeom>
            <a:solidFill>
              <a:srgbClr val="BFE9F9"/>
            </a:solidFill>
          </p:spPr>
          <p:txBody>
            <a:bodyPr wrap="square" lIns="0" tIns="0" rIns="0" bIns="0" rtlCol="0"/>
            <a:lstStyle/>
            <a:p>
              <a:endParaRPr/>
            </a:p>
          </p:txBody>
        </p:sp>
        <p:sp>
          <p:nvSpPr>
            <p:cNvPr id="8" name="object 8"/>
            <p:cNvSpPr/>
            <p:nvPr/>
          </p:nvSpPr>
          <p:spPr>
            <a:xfrm>
              <a:off x="18287" y="1548383"/>
              <a:ext cx="2463165" cy="5843270"/>
            </a:xfrm>
            <a:custGeom>
              <a:avLst/>
              <a:gdLst/>
              <a:ahLst/>
              <a:cxnLst/>
              <a:rect l="l" t="t" r="r" b="b"/>
              <a:pathLst>
                <a:path w="2463165" h="5843270">
                  <a:moveTo>
                    <a:pt x="0" y="0"/>
                  </a:moveTo>
                  <a:lnTo>
                    <a:pt x="2462784" y="0"/>
                  </a:lnTo>
                  <a:lnTo>
                    <a:pt x="2462784" y="5843016"/>
                  </a:lnTo>
                  <a:lnTo>
                    <a:pt x="0" y="5843016"/>
                  </a:lnTo>
                  <a:lnTo>
                    <a:pt x="0" y="0"/>
                  </a:lnTo>
                  <a:close/>
                </a:path>
              </a:pathLst>
            </a:custGeom>
            <a:ln w="13716">
              <a:solidFill>
                <a:srgbClr val="0070BF"/>
              </a:solidFill>
            </a:ln>
          </p:spPr>
          <p:txBody>
            <a:bodyPr wrap="square" lIns="0" tIns="0" rIns="0" bIns="0" rtlCol="0"/>
            <a:lstStyle/>
            <a:p>
              <a:endParaRPr/>
            </a:p>
          </p:txBody>
        </p:sp>
        <p:sp>
          <p:nvSpPr>
            <p:cNvPr id="9" name="object 9"/>
            <p:cNvSpPr/>
            <p:nvPr/>
          </p:nvSpPr>
          <p:spPr>
            <a:xfrm>
              <a:off x="28955" y="1578863"/>
              <a:ext cx="2426335" cy="212090"/>
            </a:xfrm>
            <a:custGeom>
              <a:avLst/>
              <a:gdLst/>
              <a:ahLst/>
              <a:cxnLst/>
              <a:rect l="l" t="t" r="r" b="b"/>
              <a:pathLst>
                <a:path w="2426335" h="212089">
                  <a:moveTo>
                    <a:pt x="2426208" y="211836"/>
                  </a:moveTo>
                  <a:lnTo>
                    <a:pt x="0" y="211836"/>
                  </a:lnTo>
                  <a:lnTo>
                    <a:pt x="0" y="0"/>
                  </a:lnTo>
                  <a:lnTo>
                    <a:pt x="2426208" y="0"/>
                  </a:lnTo>
                  <a:lnTo>
                    <a:pt x="2426208" y="211836"/>
                  </a:lnTo>
                  <a:close/>
                </a:path>
              </a:pathLst>
            </a:custGeom>
            <a:solidFill>
              <a:srgbClr val="16E697"/>
            </a:solidFill>
          </p:spPr>
          <p:txBody>
            <a:bodyPr wrap="square" lIns="0" tIns="0" rIns="0" bIns="0" rtlCol="0"/>
            <a:lstStyle/>
            <a:p>
              <a:endParaRPr dirty="0"/>
            </a:p>
          </p:txBody>
        </p:sp>
      </p:grpSp>
      <p:sp>
        <p:nvSpPr>
          <p:cNvPr id="10" name="object 10"/>
          <p:cNvSpPr txBox="1"/>
          <p:nvPr/>
        </p:nvSpPr>
        <p:spPr>
          <a:xfrm>
            <a:off x="39113" y="1572273"/>
            <a:ext cx="877569" cy="201978"/>
          </a:xfrm>
          <a:prstGeom prst="rect">
            <a:avLst/>
          </a:prstGeom>
        </p:spPr>
        <p:txBody>
          <a:bodyPr vert="horz" wrap="square" lIns="0" tIns="17145" rIns="0" bIns="0" rtlCol="0">
            <a:spAutoFit/>
          </a:bodyPr>
          <a:lstStyle/>
          <a:p>
            <a:pPr marL="12700">
              <a:lnSpc>
                <a:spcPct val="100000"/>
              </a:lnSpc>
              <a:spcBef>
                <a:spcPts val="135"/>
              </a:spcBef>
            </a:pPr>
            <a:r>
              <a:rPr sz="1200" b="1" u="sng" spc="10" dirty="0">
                <a:latin typeface="Times New Roman"/>
                <a:cs typeface="Times New Roman"/>
              </a:rPr>
              <a:t>Introduction</a:t>
            </a:r>
            <a:endParaRPr sz="1200" u="sng" dirty="0">
              <a:latin typeface="Times New Roman"/>
              <a:cs typeface="Times New Roman"/>
            </a:endParaRPr>
          </a:p>
        </p:txBody>
      </p:sp>
      <p:sp>
        <p:nvSpPr>
          <p:cNvPr id="11" name="object 11"/>
          <p:cNvSpPr/>
          <p:nvPr/>
        </p:nvSpPr>
        <p:spPr>
          <a:xfrm>
            <a:off x="67056" y="6063475"/>
            <a:ext cx="2357755" cy="212090"/>
          </a:xfrm>
          <a:custGeom>
            <a:avLst/>
            <a:gdLst/>
            <a:ahLst/>
            <a:cxnLst/>
            <a:rect l="l" t="t" r="r" b="b"/>
            <a:pathLst>
              <a:path w="2357755" h="212090">
                <a:moveTo>
                  <a:pt x="2357627" y="211835"/>
                </a:moveTo>
                <a:lnTo>
                  <a:pt x="0" y="211835"/>
                </a:lnTo>
                <a:lnTo>
                  <a:pt x="0" y="0"/>
                </a:lnTo>
                <a:lnTo>
                  <a:pt x="2357627" y="0"/>
                </a:lnTo>
                <a:lnTo>
                  <a:pt x="2357627" y="211835"/>
                </a:lnTo>
                <a:close/>
              </a:path>
            </a:pathLst>
          </a:custGeom>
          <a:solidFill>
            <a:srgbClr val="16E697"/>
          </a:solidFill>
        </p:spPr>
        <p:txBody>
          <a:bodyPr wrap="square" lIns="0" tIns="0" rIns="0" bIns="0" rtlCol="0"/>
          <a:lstStyle/>
          <a:p>
            <a:endParaRPr/>
          </a:p>
        </p:txBody>
      </p:sp>
      <p:sp>
        <p:nvSpPr>
          <p:cNvPr id="12" name="object 12"/>
          <p:cNvSpPr txBox="1"/>
          <p:nvPr/>
        </p:nvSpPr>
        <p:spPr>
          <a:xfrm>
            <a:off x="81671" y="6058790"/>
            <a:ext cx="671195" cy="201978"/>
          </a:xfrm>
          <a:prstGeom prst="rect">
            <a:avLst/>
          </a:prstGeom>
        </p:spPr>
        <p:txBody>
          <a:bodyPr vert="horz" wrap="square" lIns="0" tIns="17145" rIns="0" bIns="0" rtlCol="0">
            <a:spAutoFit/>
          </a:bodyPr>
          <a:lstStyle/>
          <a:p>
            <a:pPr marL="12700">
              <a:lnSpc>
                <a:spcPct val="100000"/>
              </a:lnSpc>
              <a:spcBef>
                <a:spcPts val="135"/>
              </a:spcBef>
            </a:pPr>
            <a:r>
              <a:rPr sz="1200" b="1" u="sng" spc="25" dirty="0">
                <a:latin typeface="Times New Roman"/>
                <a:cs typeface="Times New Roman"/>
              </a:rPr>
              <a:t>O</a:t>
            </a:r>
            <a:r>
              <a:rPr sz="1200" b="1" u="sng" spc="10" dirty="0">
                <a:latin typeface="Times New Roman"/>
                <a:cs typeface="Times New Roman"/>
              </a:rPr>
              <a:t>b</a:t>
            </a:r>
            <a:r>
              <a:rPr sz="1200" b="1" u="sng" spc="5" dirty="0">
                <a:latin typeface="Times New Roman"/>
                <a:cs typeface="Times New Roman"/>
              </a:rPr>
              <a:t>j</a:t>
            </a:r>
            <a:r>
              <a:rPr sz="1200" b="1" u="sng" spc="20" dirty="0">
                <a:latin typeface="Times New Roman"/>
                <a:cs typeface="Times New Roman"/>
              </a:rPr>
              <a:t>e</a:t>
            </a:r>
            <a:r>
              <a:rPr sz="1200" b="1" u="sng" spc="5" dirty="0">
                <a:latin typeface="Times New Roman"/>
                <a:cs typeface="Times New Roman"/>
              </a:rPr>
              <a:t>ct</a:t>
            </a:r>
            <a:r>
              <a:rPr sz="1200" b="1" u="sng" spc="25" dirty="0">
                <a:latin typeface="Times New Roman"/>
                <a:cs typeface="Times New Roman"/>
              </a:rPr>
              <a:t>i</a:t>
            </a:r>
            <a:r>
              <a:rPr sz="1200" b="1" u="sng" spc="15" dirty="0">
                <a:latin typeface="Times New Roman"/>
                <a:cs typeface="Times New Roman"/>
              </a:rPr>
              <a:t>ve</a:t>
            </a:r>
            <a:endParaRPr sz="1200" u="sng" dirty="0">
              <a:latin typeface="Times New Roman"/>
              <a:cs typeface="Times New Roman"/>
            </a:endParaRPr>
          </a:p>
        </p:txBody>
      </p:sp>
      <p:sp>
        <p:nvSpPr>
          <p:cNvPr id="13" name="object 13"/>
          <p:cNvSpPr/>
          <p:nvPr/>
        </p:nvSpPr>
        <p:spPr>
          <a:xfrm>
            <a:off x="2567940" y="1579751"/>
            <a:ext cx="2385060" cy="212090"/>
          </a:xfrm>
          <a:custGeom>
            <a:avLst/>
            <a:gdLst/>
            <a:ahLst/>
            <a:cxnLst/>
            <a:rect l="l" t="t" r="r" b="b"/>
            <a:pathLst>
              <a:path w="2385060" h="212089">
                <a:moveTo>
                  <a:pt x="2385059" y="211836"/>
                </a:moveTo>
                <a:lnTo>
                  <a:pt x="0" y="211836"/>
                </a:lnTo>
                <a:lnTo>
                  <a:pt x="0" y="0"/>
                </a:lnTo>
                <a:lnTo>
                  <a:pt x="2385059" y="0"/>
                </a:lnTo>
                <a:lnTo>
                  <a:pt x="2385059" y="211836"/>
                </a:lnTo>
                <a:close/>
              </a:path>
            </a:pathLst>
          </a:custGeom>
          <a:solidFill>
            <a:srgbClr val="16E697"/>
          </a:solidFill>
        </p:spPr>
        <p:txBody>
          <a:bodyPr wrap="square" lIns="0" tIns="0" rIns="0" bIns="0" rtlCol="0"/>
          <a:lstStyle/>
          <a:p>
            <a:endParaRPr/>
          </a:p>
        </p:txBody>
      </p:sp>
      <p:sp>
        <p:nvSpPr>
          <p:cNvPr id="14" name="object 14"/>
          <p:cNvSpPr txBox="1"/>
          <p:nvPr/>
        </p:nvSpPr>
        <p:spPr>
          <a:xfrm>
            <a:off x="2585605" y="1600200"/>
            <a:ext cx="909319" cy="201978"/>
          </a:xfrm>
          <a:prstGeom prst="rect">
            <a:avLst/>
          </a:prstGeom>
        </p:spPr>
        <p:txBody>
          <a:bodyPr vert="horz" wrap="square" lIns="0" tIns="17145" rIns="0" bIns="0" rtlCol="0">
            <a:spAutoFit/>
          </a:bodyPr>
          <a:lstStyle/>
          <a:p>
            <a:pPr marL="12700">
              <a:lnSpc>
                <a:spcPct val="100000"/>
              </a:lnSpc>
              <a:spcBef>
                <a:spcPts val="135"/>
              </a:spcBef>
            </a:pPr>
            <a:r>
              <a:rPr sz="1200" b="1" u="sng" spc="15" dirty="0">
                <a:latin typeface="Times New Roman"/>
                <a:cs typeface="Times New Roman"/>
              </a:rPr>
              <a:t>Methodology</a:t>
            </a:r>
            <a:endParaRPr sz="1200" u="sng" dirty="0">
              <a:latin typeface="Times New Roman"/>
              <a:cs typeface="Times New Roman"/>
            </a:endParaRPr>
          </a:p>
        </p:txBody>
      </p:sp>
      <p:grpSp>
        <p:nvGrpSpPr>
          <p:cNvPr id="15" name="object 15"/>
          <p:cNvGrpSpPr/>
          <p:nvPr/>
        </p:nvGrpSpPr>
        <p:grpSpPr>
          <a:xfrm>
            <a:off x="5072851" y="1750641"/>
            <a:ext cx="4929183" cy="5844540"/>
            <a:chOff x="5072956" y="1536191"/>
            <a:chExt cx="4929183" cy="5844540"/>
          </a:xfrm>
        </p:grpSpPr>
        <p:sp>
          <p:nvSpPr>
            <p:cNvPr id="16" name="object 16"/>
            <p:cNvSpPr/>
            <p:nvPr/>
          </p:nvSpPr>
          <p:spPr>
            <a:xfrm>
              <a:off x="7591044" y="1536191"/>
              <a:ext cx="2411095" cy="5844540"/>
            </a:xfrm>
            <a:custGeom>
              <a:avLst/>
              <a:gdLst/>
              <a:ahLst/>
              <a:cxnLst/>
              <a:rect l="l" t="t" r="r" b="b"/>
              <a:pathLst>
                <a:path w="2411095" h="5844540">
                  <a:moveTo>
                    <a:pt x="2410967" y="5844540"/>
                  </a:moveTo>
                  <a:lnTo>
                    <a:pt x="0" y="5844540"/>
                  </a:lnTo>
                  <a:lnTo>
                    <a:pt x="0" y="0"/>
                  </a:lnTo>
                  <a:lnTo>
                    <a:pt x="2410967" y="0"/>
                  </a:lnTo>
                  <a:lnTo>
                    <a:pt x="2410967" y="5844540"/>
                  </a:lnTo>
                  <a:close/>
                </a:path>
              </a:pathLst>
            </a:custGeom>
            <a:solidFill>
              <a:srgbClr val="BFE9F9"/>
            </a:solidFill>
          </p:spPr>
          <p:txBody>
            <a:bodyPr wrap="square" lIns="0" tIns="0" rIns="0" bIns="0" rtlCol="0"/>
            <a:lstStyle/>
            <a:p>
              <a:endParaRPr dirty="0"/>
            </a:p>
          </p:txBody>
        </p:sp>
        <p:sp>
          <p:nvSpPr>
            <p:cNvPr id="17" name="object 17"/>
            <p:cNvSpPr/>
            <p:nvPr/>
          </p:nvSpPr>
          <p:spPr>
            <a:xfrm>
              <a:off x="7591044" y="1536191"/>
              <a:ext cx="2411095" cy="5844540"/>
            </a:xfrm>
            <a:custGeom>
              <a:avLst/>
              <a:gdLst/>
              <a:ahLst/>
              <a:cxnLst/>
              <a:rect l="l" t="t" r="r" b="b"/>
              <a:pathLst>
                <a:path w="2411095" h="5844540">
                  <a:moveTo>
                    <a:pt x="0" y="0"/>
                  </a:moveTo>
                  <a:lnTo>
                    <a:pt x="2410967" y="0"/>
                  </a:lnTo>
                  <a:lnTo>
                    <a:pt x="2410967" y="5844540"/>
                  </a:lnTo>
                  <a:lnTo>
                    <a:pt x="0" y="5844540"/>
                  </a:lnTo>
                  <a:lnTo>
                    <a:pt x="0" y="0"/>
                  </a:lnTo>
                  <a:close/>
                </a:path>
              </a:pathLst>
            </a:custGeom>
            <a:ln w="13716">
              <a:solidFill>
                <a:srgbClr val="0070BF"/>
              </a:solidFill>
            </a:ln>
          </p:spPr>
          <p:txBody>
            <a:bodyPr wrap="square" lIns="0" tIns="0" rIns="0" bIns="0" rtlCol="0"/>
            <a:lstStyle/>
            <a:p>
              <a:endParaRPr/>
            </a:p>
          </p:txBody>
        </p:sp>
        <p:sp>
          <p:nvSpPr>
            <p:cNvPr id="18" name="object 18"/>
            <p:cNvSpPr/>
            <p:nvPr/>
          </p:nvSpPr>
          <p:spPr>
            <a:xfrm>
              <a:off x="5072956" y="5259827"/>
              <a:ext cx="2466340" cy="212090"/>
            </a:xfrm>
            <a:custGeom>
              <a:avLst/>
              <a:gdLst/>
              <a:ahLst/>
              <a:cxnLst/>
              <a:rect l="l" t="t" r="r" b="b"/>
              <a:pathLst>
                <a:path w="2466340" h="212089">
                  <a:moveTo>
                    <a:pt x="2465832" y="211835"/>
                  </a:moveTo>
                  <a:lnTo>
                    <a:pt x="0" y="211835"/>
                  </a:lnTo>
                  <a:lnTo>
                    <a:pt x="0" y="0"/>
                  </a:lnTo>
                  <a:lnTo>
                    <a:pt x="2465832" y="0"/>
                  </a:lnTo>
                  <a:lnTo>
                    <a:pt x="2465832" y="211835"/>
                  </a:lnTo>
                  <a:close/>
                </a:path>
              </a:pathLst>
            </a:custGeom>
            <a:solidFill>
              <a:srgbClr val="16E697"/>
            </a:solidFill>
          </p:spPr>
          <p:txBody>
            <a:bodyPr wrap="square" lIns="0" tIns="0" rIns="0" bIns="0" rtlCol="0"/>
            <a:lstStyle/>
            <a:p>
              <a:endParaRPr dirty="0"/>
            </a:p>
          </p:txBody>
        </p:sp>
      </p:grpSp>
      <p:sp>
        <p:nvSpPr>
          <p:cNvPr id="19" name="object 19"/>
          <p:cNvSpPr txBox="1"/>
          <p:nvPr/>
        </p:nvSpPr>
        <p:spPr>
          <a:xfrm>
            <a:off x="5094230" y="5274543"/>
            <a:ext cx="513715" cy="399468"/>
          </a:xfrm>
          <a:prstGeom prst="rect">
            <a:avLst/>
          </a:prstGeom>
        </p:spPr>
        <p:txBody>
          <a:bodyPr vert="horz" wrap="square" lIns="0" tIns="17145" rIns="0" bIns="0" rtlCol="0">
            <a:spAutoFit/>
          </a:bodyPr>
          <a:lstStyle/>
          <a:p>
            <a:pPr marL="12700">
              <a:lnSpc>
                <a:spcPct val="100000"/>
              </a:lnSpc>
              <a:spcBef>
                <a:spcPts val="135"/>
              </a:spcBef>
            </a:pPr>
            <a:endParaRPr lang="en-GB" sz="1200" b="1" u="sng" spc="10" dirty="0">
              <a:latin typeface="Times New Roman"/>
              <a:cs typeface="Times New Roman"/>
            </a:endParaRPr>
          </a:p>
          <a:p>
            <a:pPr marL="12700">
              <a:lnSpc>
                <a:spcPct val="100000"/>
              </a:lnSpc>
              <a:spcBef>
                <a:spcPts val="135"/>
              </a:spcBef>
            </a:pPr>
            <a:r>
              <a:rPr sz="1200" b="1" u="sng" spc="10" dirty="0">
                <a:latin typeface="Times New Roman"/>
                <a:cs typeface="Times New Roman"/>
              </a:rPr>
              <a:t>Results</a:t>
            </a:r>
            <a:endParaRPr sz="1200" u="sng" dirty="0">
              <a:latin typeface="Times New Roman"/>
              <a:cs typeface="Times New Roman"/>
            </a:endParaRPr>
          </a:p>
        </p:txBody>
      </p:sp>
      <p:sp>
        <p:nvSpPr>
          <p:cNvPr id="22" name="object 22"/>
          <p:cNvSpPr/>
          <p:nvPr/>
        </p:nvSpPr>
        <p:spPr>
          <a:xfrm>
            <a:off x="67056" y="4288535"/>
            <a:ext cx="2251075" cy="210820"/>
          </a:xfrm>
          <a:custGeom>
            <a:avLst/>
            <a:gdLst/>
            <a:ahLst/>
            <a:cxnLst/>
            <a:rect l="l" t="t" r="r" b="b"/>
            <a:pathLst>
              <a:path w="2251075" h="210820">
                <a:moveTo>
                  <a:pt x="2250948" y="210312"/>
                </a:moveTo>
                <a:lnTo>
                  <a:pt x="0" y="210312"/>
                </a:lnTo>
                <a:lnTo>
                  <a:pt x="0" y="0"/>
                </a:lnTo>
                <a:lnTo>
                  <a:pt x="2250948" y="0"/>
                </a:lnTo>
                <a:lnTo>
                  <a:pt x="2250948" y="210312"/>
                </a:lnTo>
                <a:close/>
              </a:path>
            </a:pathLst>
          </a:custGeom>
          <a:solidFill>
            <a:srgbClr val="16E697"/>
          </a:solidFill>
        </p:spPr>
        <p:txBody>
          <a:bodyPr wrap="square" lIns="0" tIns="0" rIns="0" bIns="0" rtlCol="0"/>
          <a:lstStyle/>
          <a:p>
            <a:endParaRPr/>
          </a:p>
        </p:txBody>
      </p:sp>
      <p:sp>
        <p:nvSpPr>
          <p:cNvPr id="23" name="object 23"/>
          <p:cNvSpPr txBox="1"/>
          <p:nvPr/>
        </p:nvSpPr>
        <p:spPr>
          <a:xfrm>
            <a:off x="75673" y="4280425"/>
            <a:ext cx="1316355" cy="201978"/>
          </a:xfrm>
          <a:prstGeom prst="rect">
            <a:avLst/>
          </a:prstGeom>
        </p:spPr>
        <p:txBody>
          <a:bodyPr vert="horz" wrap="square" lIns="0" tIns="17145" rIns="0" bIns="0" rtlCol="0">
            <a:spAutoFit/>
          </a:bodyPr>
          <a:lstStyle/>
          <a:p>
            <a:pPr marL="12700">
              <a:lnSpc>
                <a:spcPct val="100000"/>
              </a:lnSpc>
              <a:spcBef>
                <a:spcPts val="135"/>
              </a:spcBef>
            </a:pPr>
            <a:r>
              <a:rPr sz="1200" b="1" u="sng" spc="15" dirty="0">
                <a:latin typeface="Times New Roman"/>
                <a:cs typeface="Times New Roman"/>
              </a:rPr>
              <a:t>Problem</a:t>
            </a:r>
            <a:r>
              <a:rPr sz="1200" b="1" u="sng" spc="-45" dirty="0">
                <a:latin typeface="Times New Roman"/>
                <a:cs typeface="Times New Roman"/>
              </a:rPr>
              <a:t> </a:t>
            </a:r>
            <a:r>
              <a:rPr sz="1200" b="1" u="sng" spc="10" dirty="0">
                <a:latin typeface="Times New Roman"/>
                <a:cs typeface="Times New Roman"/>
              </a:rPr>
              <a:t>Statement</a:t>
            </a:r>
            <a:endParaRPr sz="1200" u="sng" dirty="0">
              <a:latin typeface="Times New Roman"/>
              <a:cs typeface="Times New Roman"/>
            </a:endParaRPr>
          </a:p>
        </p:txBody>
      </p:sp>
      <p:sp>
        <p:nvSpPr>
          <p:cNvPr id="24" name="object 24"/>
          <p:cNvSpPr/>
          <p:nvPr/>
        </p:nvSpPr>
        <p:spPr>
          <a:xfrm>
            <a:off x="7632065" y="5655310"/>
            <a:ext cx="2350135" cy="212090"/>
          </a:xfrm>
          <a:custGeom>
            <a:avLst/>
            <a:gdLst/>
            <a:ahLst/>
            <a:cxnLst/>
            <a:rect l="l" t="t" r="r" b="b"/>
            <a:pathLst>
              <a:path w="2350134" h="212089">
                <a:moveTo>
                  <a:pt x="2350007" y="211835"/>
                </a:moveTo>
                <a:lnTo>
                  <a:pt x="0" y="211835"/>
                </a:lnTo>
                <a:lnTo>
                  <a:pt x="0" y="0"/>
                </a:lnTo>
                <a:lnTo>
                  <a:pt x="2350007" y="0"/>
                </a:lnTo>
                <a:lnTo>
                  <a:pt x="2350007" y="211835"/>
                </a:lnTo>
                <a:close/>
              </a:path>
            </a:pathLst>
          </a:custGeom>
          <a:solidFill>
            <a:srgbClr val="16E697"/>
          </a:solidFill>
        </p:spPr>
        <p:txBody>
          <a:bodyPr wrap="square" lIns="0" tIns="0" rIns="0" bIns="0" rtlCol="0"/>
          <a:lstStyle/>
          <a:p>
            <a:endParaRPr/>
          </a:p>
        </p:txBody>
      </p:sp>
      <p:sp>
        <p:nvSpPr>
          <p:cNvPr id="25" name="object 25"/>
          <p:cNvSpPr txBox="1"/>
          <p:nvPr/>
        </p:nvSpPr>
        <p:spPr>
          <a:xfrm>
            <a:off x="7655926" y="5638800"/>
            <a:ext cx="755650" cy="201978"/>
          </a:xfrm>
          <a:prstGeom prst="rect">
            <a:avLst/>
          </a:prstGeom>
        </p:spPr>
        <p:txBody>
          <a:bodyPr vert="horz" wrap="square" lIns="0" tIns="17145" rIns="0" bIns="0" rtlCol="0">
            <a:spAutoFit/>
          </a:bodyPr>
          <a:lstStyle/>
          <a:p>
            <a:pPr marL="12700">
              <a:lnSpc>
                <a:spcPct val="100000"/>
              </a:lnSpc>
              <a:spcBef>
                <a:spcPts val="135"/>
              </a:spcBef>
            </a:pPr>
            <a:r>
              <a:rPr sz="1200" b="1" u="sng" spc="10" dirty="0">
                <a:latin typeface="Times New Roman"/>
                <a:cs typeface="Times New Roman"/>
              </a:rPr>
              <a:t>References</a:t>
            </a:r>
            <a:endParaRPr sz="1200" u="sng" dirty="0">
              <a:latin typeface="Times New Roman"/>
              <a:cs typeface="Times New Roman"/>
            </a:endParaRPr>
          </a:p>
        </p:txBody>
      </p:sp>
      <p:sp>
        <p:nvSpPr>
          <p:cNvPr id="26" name="object 26"/>
          <p:cNvSpPr/>
          <p:nvPr/>
        </p:nvSpPr>
        <p:spPr>
          <a:xfrm>
            <a:off x="2615762" y="5851385"/>
            <a:ext cx="2386965" cy="212090"/>
          </a:xfrm>
          <a:custGeom>
            <a:avLst/>
            <a:gdLst/>
            <a:ahLst/>
            <a:cxnLst/>
            <a:rect l="l" t="t" r="r" b="b"/>
            <a:pathLst>
              <a:path w="2386965" h="212089">
                <a:moveTo>
                  <a:pt x="2386583" y="211836"/>
                </a:moveTo>
                <a:lnTo>
                  <a:pt x="0" y="211836"/>
                </a:lnTo>
                <a:lnTo>
                  <a:pt x="0" y="0"/>
                </a:lnTo>
                <a:lnTo>
                  <a:pt x="2386583" y="0"/>
                </a:lnTo>
                <a:lnTo>
                  <a:pt x="2386583" y="211836"/>
                </a:lnTo>
                <a:close/>
              </a:path>
            </a:pathLst>
          </a:custGeom>
          <a:solidFill>
            <a:srgbClr val="16E697"/>
          </a:solidFill>
        </p:spPr>
        <p:txBody>
          <a:bodyPr wrap="square" lIns="0" tIns="0" rIns="0" bIns="0" rtlCol="0"/>
          <a:lstStyle/>
          <a:p>
            <a:endParaRPr/>
          </a:p>
        </p:txBody>
      </p:sp>
      <p:sp>
        <p:nvSpPr>
          <p:cNvPr id="27" name="object 27"/>
          <p:cNvSpPr txBox="1"/>
          <p:nvPr/>
        </p:nvSpPr>
        <p:spPr>
          <a:xfrm>
            <a:off x="2633821" y="5864127"/>
            <a:ext cx="1427480" cy="201978"/>
          </a:xfrm>
          <a:prstGeom prst="rect">
            <a:avLst/>
          </a:prstGeom>
        </p:spPr>
        <p:txBody>
          <a:bodyPr vert="horz" wrap="square" lIns="0" tIns="17145" rIns="0" bIns="0" rtlCol="0">
            <a:spAutoFit/>
          </a:bodyPr>
          <a:lstStyle/>
          <a:p>
            <a:pPr marL="12700">
              <a:lnSpc>
                <a:spcPct val="100000"/>
              </a:lnSpc>
              <a:spcBef>
                <a:spcPts val="135"/>
              </a:spcBef>
            </a:pPr>
            <a:r>
              <a:rPr sz="1200" b="1" u="sng" spc="10" dirty="0">
                <a:latin typeface="Times New Roman"/>
                <a:cs typeface="Times New Roman"/>
              </a:rPr>
              <a:t>Realistic</a:t>
            </a:r>
            <a:r>
              <a:rPr sz="1200" b="1" u="sng" spc="5" dirty="0">
                <a:latin typeface="Times New Roman"/>
                <a:cs typeface="Times New Roman"/>
              </a:rPr>
              <a:t> </a:t>
            </a:r>
            <a:r>
              <a:rPr sz="1200" b="1" u="sng" spc="10" dirty="0">
                <a:latin typeface="Times New Roman"/>
                <a:cs typeface="Times New Roman"/>
              </a:rPr>
              <a:t>Constraints</a:t>
            </a:r>
            <a:endParaRPr sz="1200" u="sng" dirty="0">
              <a:latin typeface="Times New Roman"/>
              <a:cs typeface="Times New Roman"/>
            </a:endParaRPr>
          </a:p>
        </p:txBody>
      </p:sp>
      <p:sp>
        <p:nvSpPr>
          <p:cNvPr id="28" name="object 28"/>
          <p:cNvSpPr txBox="1"/>
          <p:nvPr/>
        </p:nvSpPr>
        <p:spPr>
          <a:xfrm>
            <a:off x="49689" y="1814745"/>
            <a:ext cx="2337968" cy="2473754"/>
          </a:xfrm>
          <a:prstGeom prst="rect">
            <a:avLst/>
          </a:prstGeom>
        </p:spPr>
        <p:txBody>
          <a:bodyPr vert="horz" wrap="square" lIns="0" tIns="11430" rIns="0" bIns="0" rtlCol="0">
            <a:spAutoFit/>
          </a:bodyPr>
          <a:lstStyle/>
          <a:p>
            <a:pPr marL="228600" indent="-228600" algn="just">
              <a:buFont typeface="Arial" panose="020B0604020202020204" pitchFamily="34" charset="0"/>
              <a:buChar char="•"/>
            </a:pPr>
            <a:r>
              <a:rPr lang="en-US" sz="1000" dirty="0"/>
              <a:t>The integration of touch sensor technology in electronics has become increasingly popular due to its simple interface and wide range of applications, from home automation to industrial control. In this project, a touch sensor system is designed using a CD4017 IC, a relay, resistors, and an IR sensor. This circuit demonstrates how touch inputs can control devices efficiently, offering an alternative to traditional mechanical switches. The use of low-cost components and simple design makes this project suitable for real-world applications where touch control is preferred for ease of use and durability.</a:t>
            </a:r>
            <a:endParaRPr sz="950" dirty="0">
              <a:latin typeface="Times New Roman"/>
              <a:cs typeface="Times New Roman"/>
            </a:endParaRPr>
          </a:p>
        </p:txBody>
      </p:sp>
      <p:sp>
        <p:nvSpPr>
          <p:cNvPr id="34" name="object 34"/>
          <p:cNvSpPr txBox="1"/>
          <p:nvPr/>
        </p:nvSpPr>
        <p:spPr>
          <a:xfrm>
            <a:off x="2561265" y="6055572"/>
            <a:ext cx="2391735" cy="1864934"/>
          </a:xfrm>
          <a:prstGeom prst="rect">
            <a:avLst/>
          </a:prstGeom>
        </p:spPr>
        <p:txBody>
          <a:bodyPr vert="horz" wrap="square" lIns="0" tIns="11430" rIns="0" bIns="0" rtlCol="0">
            <a:spAutoFit/>
          </a:bodyPr>
          <a:lstStyle/>
          <a:p>
            <a:pPr marL="228600" indent="-228600" algn="just">
              <a:buFont typeface="Arial" panose="020B0604020202020204" pitchFamily="34" charset="0"/>
              <a:buChar char="•"/>
            </a:pPr>
            <a:r>
              <a:rPr lang="en-US" sz="975" b="0" i="0" dirty="0">
                <a:effectLst/>
                <a:latin typeface="Times New Roman" panose="02020603050405020304" pitchFamily="18" charset="0"/>
                <a:cs typeface="Times New Roman" panose="02020603050405020304" pitchFamily="18" charset="0"/>
              </a:rPr>
              <a:t>Balancing accuracy and efficiency in PCF-based SPR biosensor development may require optimization of mesh density, solver settings, and parallel computing techniques.</a:t>
            </a:r>
          </a:p>
          <a:p>
            <a:pPr marL="228600" indent="-228600" algn="just">
              <a:buFont typeface="Arial" panose="020B0604020202020204" pitchFamily="34" charset="0"/>
              <a:buChar char="•"/>
            </a:pPr>
            <a:r>
              <a:rPr lang="en-US" sz="975" b="0" i="0" dirty="0">
                <a:effectLst/>
                <a:latin typeface="Times New Roman" panose="02020603050405020304" pitchFamily="18" charset="0"/>
                <a:cs typeface="Times New Roman" panose="02020603050405020304" pitchFamily="18" charset="0"/>
              </a:rPr>
              <a:t>Limited availability of accurate material property data for PCF structures and biological components poses a challenge in achieving the desired sensitivity and specificity for accurate cancer cell detection.</a:t>
            </a:r>
          </a:p>
          <a:p>
            <a:pPr marL="12700" marR="5080" algn="just">
              <a:lnSpc>
                <a:spcPct val="101600"/>
              </a:lnSpc>
              <a:spcBef>
                <a:spcPts val="90"/>
              </a:spcBef>
            </a:pPr>
            <a:endParaRPr sz="975" dirty="0">
              <a:latin typeface="Times New Roman"/>
              <a:cs typeface="Times New Roman"/>
            </a:endParaRPr>
          </a:p>
        </p:txBody>
      </p:sp>
      <p:sp>
        <p:nvSpPr>
          <p:cNvPr id="36" name="object 36"/>
          <p:cNvSpPr txBox="1"/>
          <p:nvPr/>
        </p:nvSpPr>
        <p:spPr>
          <a:xfrm>
            <a:off x="7634836" y="1767087"/>
            <a:ext cx="2318226" cy="3018327"/>
          </a:xfrm>
          <a:prstGeom prst="rect">
            <a:avLst/>
          </a:prstGeom>
        </p:spPr>
        <p:txBody>
          <a:bodyPr vert="horz" wrap="square" lIns="0" tIns="11430" rIns="0" bIns="0" rtlCol="0">
            <a:spAutoFit/>
          </a:bodyPr>
          <a:lstStyle/>
          <a:p>
            <a:pPr marL="12700" marR="5080" algn="just">
              <a:lnSpc>
                <a:spcPct val="101600"/>
              </a:lnSpc>
              <a:spcBef>
                <a:spcPts val="90"/>
              </a:spcBef>
            </a:pPr>
            <a:r>
              <a:rPr lang="en-US" sz="1200" dirty="0"/>
              <a:t>This project presents a practical, low-cost solution for touch sensor-based control systems. By using the CD4017 IC in combination with an IR sensor and a relay, the system achieves reliable, contactless switching of electrical devices. This project demonstrates the viability of touch-sensitive technology in replacing traditional mechanical switches, reducing wear, and enhancing operational longevity. Future developments may involve refining the design for higher sensitivity and improved environmental resilience.</a:t>
            </a:r>
            <a:r>
              <a:rPr lang="en-US" sz="1200" b="0" i="0" dirty="0">
                <a:effectLst/>
                <a:latin typeface="Times New Roman" panose="02020603050405020304" pitchFamily="18" charset="0"/>
                <a:cs typeface="Times New Roman" panose="02020603050405020304" pitchFamily="18" charset="0"/>
              </a:rPr>
              <a:t>.</a:t>
            </a:r>
            <a:endParaRPr sz="1200" dirty="0">
              <a:latin typeface="Times New Roman" panose="02020603050405020304" pitchFamily="18" charset="0"/>
              <a:cs typeface="Times New Roman" panose="02020603050405020304" pitchFamily="18" charset="0"/>
            </a:endParaRPr>
          </a:p>
        </p:txBody>
      </p:sp>
      <p:sp>
        <p:nvSpPr>
          <p:cNvPr id="44" name="object 44"/>
          <p:cNvSpPr/>
          <p:nvPr/>
        </p:nvSpPr>
        <p:spPr>
          <a:xfrm>
            <a:off x="5061203" y="1569718"/>
            <a:ext cx="2466340" cy="221235"/>
          </a:xfrm>
          <a:custGeom>
            <a:avLst/>
            <a:gdLst/>
            <a:ahLst/>
            <a:cxnLst/>
            <a:rect l="l" t="t" r="r" b="b"/>
            <a:pathLst>
              <a:path w="2466340" h="212089">
                <a:moveTo>
                  <a:pt x="2465832" y="211835"/>
                </a:moveTo>
                <a:lnTo>
                  <a:pt x="0" y="211835"/>
                </a:lnTo>
                <a:lnTo>
                  <a:pt x="0" y="0"/>
                </a:lnTo>
                <a:lnTo>
                  <a:pt x="2465832" y="0"/>
                </a:lnTo>
                <a:lnTo>
                  <a:pt x="2465832" y="211835"/>
                </a:lnTo>
                <a:close/>
              </a:path>
            </a:pathLst>
          </a:custGeom>
          <a:solidFill>
            <a:srgbClr val="16E697"/>
          </a:solidFill>
        </p:spPr>
        <p:txBody>
          <a:bodyPr wrap="square" lIns="0" tIns="0" rIns="0" bIns="0" rtlCol="0"/>
          <a:lstStyle/>
          <a:p>
            <a:endParaRPr/>
          </a:p>
        </p:txBody>
      </p:sp>
      <p:sp>
        <p:nvSpPr>
          <p:cNvPr id="45" name="object 45"/>
          <p:cNvSpPr txBox="1"/>
          <p:nvPr/>
        </p:nvSpPr>
        <p:spPr>
          <a:xfrm>
            <a:off x="5079491" y="1569719"/>
            <a:ext cx="2185035" cy="322580"/>
          </a:xfrm>
          <a:prstGeom prst="rect">
            <a:avLst/>
          </a:prstGeom>
        </p:spPr>
        <p:txBody>
          <a:bodyPr vert="horz" wrap="square" lIns="0" tIns="17145" rIns="0" bIns="0" rtlCol="0">
            <a:spAutoFit/>
          </a:bodyPr>
          <a:lstStyle/>
          <a:p>
            <a:pPr marL="12700">
              <a:lnSpc>
                <a:spcPts val="1420"/>
              </a:lnSpc>
              <a:spcBef>
                <a:spcPts val="135"/>
              </a:spcBef>
            </a:pPr>
            <a:r>
              <a:rPr lang="en-US" sz="1200" b="1" u="sng" spc="10" dirty="0">
                <a:latin typeface="Times New Roman"/>
                <a:cs typeface="Times New Roman"/>
              </a:rPr>
              <a:t>Future improvements</a:t>
            </a:r>
            <a:endParaRPr sz="1200" u="sng" dirty="0">
              <a:latin typeface="Times New Roman"/>
              <a:cs typeface="Times New Roman"/>
            </a:endParaRPr>
          </a:p>
          <a:p>
            <a:pPr marL="242570">
              <a:lnSpc>
                <a:spcPts val="880"/>
              </a:lnSpc>
            </a:pPr>
            <a:endParaRPr sz="750" dirty="0">
              <a:latin typeface="Times New Roman"/>
              <a:cs typeface="Times New Roman"/>
            </a:endParaRPr>
          </a:p>
        </p:txBody>
      </p:sp>
      <p:sp>
        <p:nvSpPr>
          <p:cNvPr id="56" name="TextBox 55">
            <a:extLst>
              <a:ext uri="{FF2B5EF4-FFF2-40B4-BE49-F238E27FC236}">
                <a16:creationId xmlns:a16="http://schemas.microsoft.com/office/drawing/2014/main" id="{4EC515CB-371B-76CC-77A5-919455B65293}"/>
              </a:ext>
            </a:extLst>
          </p:cNvPr>
          <p:cNvSpPr txBox="1"/>
          <p:nvPr/>
        </p:nvSpPr>
        <p:spPr>
          <a:xfrm>
            <a:off x="-210971" y="4499355"/>
            <a:ext cx="2813455" cy="1631216"/>
          </a:xfrm>
          <a:prstGeom prst="rect">
            <a:avLst/>
          </a:prstGeom>
          <a:noFill/>
        </p:spPr>
        <p:txBody>
          <a:bodyPr wrap="square">
            <a:spAutoFit/>
          </a:bodyPr>
          <a:lstStyle/>
          <a:p>
            <a:pPr marL="228600" indent="-228600" algn="just">
              <a:buFont typeface="Arial" panose="020B0604020202020204" pitchFamily="34" charset="0"/>
              <a:buChar char="•"/>
            </a:pPr>
            <a:r>
              <a:rPr lang="en-US" sz="1000" dirty="0"/>
              <a:t>Traditional mechanical switches often suffer from wear and tear, leading to short operational lifespans and maintenance issues. There is a need for a more reliable, contactless, and durable solution for activating electrical devices. A touch-sensitive system using solid-state components like the CD4017 IC can eliminate the mechanical limitations while ensuring smooth and long-lasting performance.</a:t>
            </a:r>
            <a:endParaRPr lang="en-US" sz="950" b="0" i="0" dirty="0">
              <a:effectLst/>
              <a:latin typeface="Times New Roman" panose="02020603050405020304" pitchFamily="18" charset="0"/>
              <a:cs typeface="Times New Roman" panose="02020603050405020304" pitchFamily="18" charset="0"/>
            </a:endParaRPr>
          </a:p>
        </p:txBody>
      </p:sp>
      <p:sp>
        <p:nvSpPr>
          <p:cNvPr id="59" name="object 18">
            <a:extLst>
              <a:ext uri="{FF2B5EF4-FFF2-40B4-BE49-F238E27FC236}">
                <a16:creationId xmlns:a16="http://schemas.microsoft.com/office/drawing/2014/main" id="{310E4061-2D64-DAE2-F2F6-B1B9D3421603}"/>
              </a:ext>
            </a:extLst>
          </p:cNvPr>
          <p:cNvSpPr/>
          <p:nvPr/>
        </p:nvSpPr>
        <p:spPr>
          <a:xfrm>
            <a:off x="2525501" y="4038600"/>
            <a:ext cx="2427499" cy="205266"/>
          </a:xfrm>
          <a:custGeom>
            <a:avLst/>
            <a:gdLst/>
            <a:ahLst/>
            <a:cxnLst/>
            <a:rect l="l" t="t" r="r" b="b"/>
            <a:pathLst>
              <a:path w="2466340" h="212089">
                <a:moveTo>
                  <a:pt x="2465832" y="211835"/>
                </a:moveTo>
                <a:lnTo>
                  <a:pt x="0" y="211835"/>
                </a:lnTo>
                <a:lnTo>
                  <a:pt x="0" y="0"/>
                </a:lnTo>
                <a:lnTo>
                  <a:pt x="2465832" y="0"/>
                </a:lnTo>
                <a:lnTo>
                  <a:pt x="2465832" y="211835"/>
                </a:lnTo>
                <a:close/>
              </a:path>
            </a:pathLst>
          </a:custGeom>
          <a:solidFill>
            <a:srgbClr val="16E697"/>
          </a:solidFill>
        </p:spPr>
        <p:txBody>
          <a:bodyPr wrap="square" lIns="0" tIns="0" rIns="0" bIns="0" rtlCol="0"/>
          <a:lstStyle/>
          <a:p>
            <a:endParaRPr dirty="0"/>
          </a:p>
        </p:txBody>
      </p:sp>
      <p:sp>
        <p:nvSpPr>
          <p:cNvPr id="67" name="TextBox 66">
            <a:extLst>
              <a:ext uri="{FF2B5EF4-FFF2-40B4-BE49-F238E27FC236}">
                <a16:creationId xmlns:a16="http://schemas.microsoft.com/office/drawing/2014/main" id="{84AECBE5-44C5-7558-DEBB-411BAA75FDA0}"/>
              </a:ext>
            </a:extLst>
          </p:cNvPr>
          <p:cNvSpPr txBox="1"/>
          <p:nvPr/>
        </p:nvSpPr>
        <p:spPr>
          <a:xfrm flipV="1">
            <a:off x="2543206" y="4593054"/>
            <a:ext cx="2261471" cy="384721"/>
          </a:xfrm>
          <a:prstGeom prst="rect">
            <a:avLst/>
          </a:prstGeom>
          <a:noFill/>
        </p:spPr>
        <p:txBody>
          <a:bodyPr wrap="square" rtlCol="0">
            <a:spAutoFit/>
          </a:bodyPr>
          <a:lstStyle/>
          <a:p>
            <a:pPr marL="171450" lvl="0" indent="-171450" algn="just" eaLnBrk="0" fontAlgn="base" hangingPunct="0">
              <a:spcBef>
                <a:spcPct val="0"/>
              </a:spcBef>
              <a:spcAft>
                <a:spcPct val="0"/>
              </a:spcAft>
              <a:buFont typeface="Arial" panose="020B0604020202020204" pitchFamily="34" charset="0"/>
              <a:buChar char="•"/>
            </a:pPr>
            <a:endParaRPr lang="en-US" altLang="en-US" sz="950" dirty="0">
              <a:latin typeface="Times New Roman" panose="02020603050405020304" pitchFamily="18" charset="0"/>
              <a:cs typeface="Times New Roman" panose="02020603050405020304" pitchFamily="18" charset="0"/>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95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
        <p:nvSpPr>
          <p:cNvPr id="68" name="TextBox 67">
            <a:extLst>
              <a:ext uri="{FF2B5EF4-FFF2-40B4-BE49-F238E27FC236}">
                <a16:creationId xmlns:a16="http://schemas.microsoft.com/office/drawing/2014/main" id="{4DC591C8-247D-CE18-1D34-CC00388434CF}"/>
              </a:ext>
            </a:extLst>
          </p:cNvPr>
          <p:cNvSpPr txBox="1"/>
          <p:nvPr/>
        </p:nvSpPr>
        <p:spPr>
          <a:xfrm>
            <a:off x="2567940" y="3989961"/>
            <a:ext cx="2780033" cy="276999"/>
          </a:xfrm>
          <a:prstGeom prst="rect">
            <a:avLst/>
          </a:prstGeom>
          <a:noFill/>
        </p:spPr>
        <p:txBody>
          <a:bodyPr wrap="square" rtlCol="0">
            <a:spAutoFit/>
          </a:bodyPr>
          <a:lstStyle/>
          <a:p>
            <a:r>
              <a:rPr lang="en-IN" sz="1200" b="1" u="sng" dirty="0">
                <a:latin typeface="Times New Roman" panose="02020603050405020304" pitchFamily="18" charset="0"/>
                <a:cs typeface="Times New Roman" panose="02020603050405020304" pitchFamily="18" charset="0"/>
              </a:rPr>
              <a:t>Engineering  Standards</a:t>
            </a:r>
          </a:p>
        </p:txBody>
      </p:sp>
      <p:sp>
        <p:nvSpPr>
          <p:cNvPr id="71" name="object 20">
            <a:extLst>
              <a:ext uri="{FF2B5EF4-FFF2-40B4-BE49-F238E27FC236}">
                <a16:creationId xmlns:a16="http://schemas.microsoft.com/office/drawing/2014/main" id="{8C7B4BB6-81D8-3E1A-7A69-5FE97337C82E}"/>
              </a:ext>
            </a:extLst>
          </p:cNvPr>
          <p:cNvSpPr/>
          <p:nvPr/>
        </p:nvSpPr>
        <p:spPr>
          <a:xfrm>
            <a:off x="7553799" y="1500389"/>
            <a:ext cx="2360930" cy="210820"/>
          </a:xfrm>
          <a:custGeom>
            <a:avLst/>
            <a:gdLst/>
            <a:ahLst/>
            <a:cxnLst/>
            <a:rect l="l" t="t" r="r" b="b"/>
            <a:pathLst>
              <a:path w="2360929" h="210820">
                <a:moveTo>
                  <a:pt x="2360676" y="210311"/>
                </a:moveTo>
                <a:lnTo>
                  <a:pt x="0" y="210311"/>
                </a:lnTo>
                <a:lnTo>
                  <a:pt x="0" y="0"/>
                </a:lnTo>
                <a:lnTo>
                  <a:pt x="2360676" y="0"/>
                </a:lnTo>
                <a:lnTo>
                  <a:pt x="2360676" y="210311"/>
                </a:lnTo>
                <a:close/>
              </a:path>
            </a:pathLst>
          </a:custGeom>
          <a:solidFill>
            <a:srgbClr val="16E697"/>
          </a:solidFill>
        </p:spPr>
        <p:txBody>
          <a:bodyPr wrap="square" lIns="0" tIns="0" rIns="0" bIns="0" rtlCol="0"/>
          <a:lstStyle/>
          <a:p>
            <a:endParaRPr/>
          </a:p>
        </p:txBody>
      </p:sp>
      <p:sp>
        <p:nvSpPr>
          <p:cNvPr id="73" name="TextBox 72">
            <a:extLst>
              <a:ext uri="{FF2B5EF4-FFF2-40B4-BE49-F238E27FC236}">
                <a16:creationId xmlns:a16="http://schemas.microsoft.com/office/drawing/2014/main" id="{A603BEA7-2D67-96C6-8FFE-62CD51DB8FA1}"/>
              </a:ext>
            </a:extLst>
          </p:cNvPr>
          <p:cNvSpPr txBox="1"/>
          <p:nvPr/>
        </p:nvSpPr>
        <p:spPr>
          <a:xfrm>
            <a:off x="7611393" y="1447983"/>
            <a:ext cx="1228162" cy="276999"/>
          </a:xfrm>
          <a:prstGeom prst="rect">
            <a:avLst/>
          </a:prstGeom>
          <a:noFill/>
        </p:spPr>
        <p:txBody>
          <a:bodyPr wrap="square" rtlCol="0">
            <a:spAutoFit/>
          </a:bodyPr>
          <a:lstStyle/>
          <a:p>
            <a:r>
              <a:rPr lang="en-US" sz="1200" b="1" u="sng" dirty="0">
                <a:latin typeface="Times New Roman" panose="02020603050405020304" pitchFamily="18" charset="0"/>
                <a:cs typeface="Times New Roman" panose="02020603050405020304" pitchFamily="18" charset="0"/>
              </a:rPr>
              <a:t>Conclusion</a:t>
            </a:r>
            <a:endParaRPr lang="en-IN" sz="1200" b="1" u="sng" dirty="0">
              <a:latin typeface="Times New Roman" panose="02020603050405020304" pitchFamily="18" charset="0"/>
              <a:cs typeface="Times New Roman" panose="02020603050405020304" pitchFamily="18" charset="0"/>
            </a:endParaRPr>
          </a:p>
        </p:txBody>
      </p:sp>
      <p:sp>
        <p:nvSpPr>
          <p:cNvPr id="52" name="TextBox 51"/>
          <p:cNvSpPr txBox="1"/>
          <p:nvPr/>
        </p:nvSpPr>
        <p:spPr>
          <a:xfrm>
            <a:off x="5034566" y="5656247"/>
            <a:ext cx="2581403" cy="1631216"/>
          </a:xfrm>
          <a:prstGeom prst="rect">
            <a:avLst/>
          </a:prstGeom>
          <a:noFill/>
        </p:spPr>
        <p:txBody>
          <a:bodyPr wrap="square" rtlCol="0">
            <a:spAutoFit/>
          </a:bodyPr>
          <a:lstStyle/>
          <a:p>
            <a:pPr algn="just"/>
            <a:r>
              <a:rPr lang="en-US" sz="1000" dirty="0"/>
              <a:t>The project successfully demonstrates a touch sensor system that activates and deactivates an electrical load through proximity detection via an IR sensor. The system is responsive, with minimal delay in switching, and consumes low power. The CD4017 IC operates as expected, controlling the output sequence with reliable performance. The use of a relay allows the system to manage high-power loads, expanding its potential applications.</a:t>
            </a:r>
            <a:endParaRPr lang="en-IN" sz="1000" dirty="0">
              <a:latin typeface="Times New Roman" panose="02020603050405020304" pitchFamily="18" charset="0"/>
              <a:cs typeface="Times New Roman" panose="02020603050405020304" pitchFamily="18" charset="0"/>
            </a:endParaRPr>
          </a:p>
        </p:txBody>
      </p:sp>
      <p:sp>
        <p:nvSpPr>
          <p:cNvPr id="60" name="TextBox 59"/>
          <p:cNvSpPr txBox="1"/>
          <p:nvPr/>
        </p:nvSpPr>
        <p:spPr>
          <a:xfrm>
            <a:off x="7590862" y="5715000"/>
            <a:ext cx="2362200" cy="1615827"/>
          </a:xfrm>
          <a:prstGeom prst="rect">
            <a:avLst/>
          </a:prstGeom>
          <a:noFill/>
        </p:spPr>
        <p:txBody>
          <a:bodyPr wrap="square" rtlCol="0">
            <a:spAutoFit/>
          </a:bodyPr>
          <a:lstStyle/>
          <a:p>
            <a:pPr lvl="0"/>
            <a:endParaRPr lang="en-IN" sz="950" dirty="0">
              <a:latin typeface="Times New Roman" panose="02020603050405020304" pitchFamily="18" charset="0"/>
              <a:cs typeface="Times New Roman" panose="02020603050405020304" pitchFamily="18" charset="0"/>
            </a:endParaRPr>
          </a:p>
          <a:p>
            <a:r>
              <a:rPr lang="en-US" sz="1000" dirty="0"/>
              <a:t>CD4017 Datasheet, Texas Instruments.</a:t>
            </a:r>
          </a:p>
          <a:p>
            <a:r>
              <a:rPr lang="en-US" sz="1000" dirty="0"/>
              <a:t>IR Sensor Working and Applications. Electronics Hub.</a:t>
            </a:r>
          </a:p>
          <a:p>
            <a:r>
              <a:rPr lang="en-US" sz="1000" dirty="0"/>
              <a:t>"Relay Switching Circuits" in Practical Electronics Handbook, 6th Edition by Ian Sinclair.</a:t>
            </a:r>
          </a:p>
          <a:p>
            <a:r>
              <a:rPr lang="en-US" sz="1000" dirty="0"/>
              <a:t>IEEE 1584: Guide for Performing Arc-Flash Hazard Calculations.</a:t>
            </a:r>
          </a:p>
          <a:p>
            <a:pPr lvl="0"/>
            <a:endParaRPr lang="en-IN" sz="950" dirty="0">
              <a:latin typeface="Times New Roman" panose="02020603050405020304" pitchFamily="18" charset="0"/>
              <a:cs typeface="Times New Roman" panose="02020603050405020304" pitchFamily="18" charset="0"/>
            </a:endParaRPr>
          </a:p>
        </p:txBody>
      </p:sp>
      <p:sp>
        <p:nvSpPr>
          <p:cNvPr id="39" name="Rectangle 1"/>
          <p:cNvSpPr>
            <a:spLocks noChangeArrowheads="1"/>
          </p:cNvSpPr>
          <p:nvPr/>
        </p:nvSpPr>
        <p:spPr bwMode="auto">
          <a:xfrm>
            <a:off x="5410200" y="1648637"/>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7" name="Rectangle 4"/>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8" name="TextBox 47"/>
          <p:cNvSpPr txBox="1"/>
          <p:nvPr/>
        </p:nvSpPr>
        <p:spPr>
          <a:xfrm>
            <a:off x="39456" y="6270565"/>
            <a:ext cx="2337968" cy="1323439"/>
          </a:xfrm>
          <a:prstGeom prst="rect">
            <a:avLst/>
          </a:prstGeom>
          <a:noFill/>
        </p:spPr>
        <p:txBody>
          <a:bodyPr wrap="square" rtlCol="0">
            <a:spAutoFit/>
          </a:bodyPr>
          <a:lstStyle/>
          <a:p>
            <a:r>
              <a:rPr lang="en-US" sz="1000" dirty="0"/>
              <a:t>The objective of this project is to design a touch sensor circuit using the CD4017 IC and an IR sensor to enable contactless control of electrical devices. The circuit will interface with a relay to switch devices on and off, providing a reliable and cost-effective alternative to traditional mechanical switches.</a:t>
            </a:r>
            <a:endParaRPr lang="en-IN" sz="1000" dirty="0"/>
          </a:p>
        </p:txBody>
      </p:sp>
      <p:sp>
        <p:nvSpPr>
          <p:cNvPr id="50" name="Rectangle 6"/>
          <p:cNvSpPr>
            <a:spLocks noChangeArrowheads="1"/>
          </p:cNvSpPr>
          <p:nvPr/>
        </p:nvSpPr>
        <p:spPr bwMode="auto">
          <a:xfrm>
            <a:off x="2592436" y="1790953"/>
            <a:ext cx="234168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chemeClr val="tx1"/>
                </a:solidFill>
                <a:effectLst/>
                <a:latin typeface="Arial" panose="020B0604020202020204" pitchFamily="34" charset="0"/>
              </a:rPr>
              <a:t>Circuit Design:</a:t>
            </a:r>
            <a:r>
              <a:rPr kumimoji="0" lang="en-US" altLang="en-US" sz="1000" b="0" i="0" u="none" strike="noStrike" cap="none" normalizeH="0" baseline="0">
                <a:ln>
                  <a:noFill/>
                </a:ln>
                <a:solidFill>
                  <a:schemeClr val="tx1"/>
                </a:solidFill>
                <a:effectLst/>
                <a:latin typeface="Arial" panose="020B0604020202020204" pitchFamily="34" charset="0"/>
              </a:rPr>
              <a:t> The CD4017 IC is used to create a touch-sensitive system, with an IR sensor detecting proximity and a relay controlling the load.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chemeClr val="tx1"/>
                </a:solidFill>
                <a:effectLst/>
                <a:latin typeface="Arial" panose="020B0604020202020204" pitchFamily="34" charset="0"/>
              </a:rPr>
              <a:t>Prototyping:</a:t>
            </a:r>
            <a:r>
              <a:rPr kumimoji="0" lang="en-US" altLang="en-US" sz="1000" b="0" i="0" u="none" strike="noStrike" cap="none" normalizeH="0" baseline="0">
                <a:ln>
                  <a:noFill/>
                </a:ln>
                <a:solidFill>
                  <a:schemeClr val="tx1"/>
                </a:solidFill>
                <a:effectLst/>
                <a:latin typeface="Arial" panose="020B0604020202020204" pitchFamily="34" charset="0"/>
              </a:rPr>
              <a:t> The circuit is assembled and tested on a breadboard to ensure functionality.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chemeClr val="tx1"/>
                </a:solidFill>
                <a:effectLst/>
                <a:latin typeface="Arial" panose="020B0604020202020204" pitchFamily="34" charset="0"/>
              </a:rPr>
              <a:t>Testing:</a:t>
            </a:r>
            <a:r>
              <a:rPr kumimoji="0" lang="en-US" altLang="en-US" sz="1000" b="0" i="0" u="none" strike="noStrike" cap="none" normalizeH="0" baseline="0">
                <a:ln>
                  <a:noFill/>
                </a:ln>
                <a:solidFill>
                  <a:schemeClr val="tx1"/>
                </a:solidFill>
                <a:effectLst/>
                <a:latin typeface="Arial" panose="020B0604020202020204" pitchFamily="34" charset="0"/>
              </a:rPr>
              <a:t> The system is tested for reliable switching and correct operation of the touch sensor.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chemeClr val="tx1"/>
                </a:solidFill>
                <a:effectLst/>
                <a:latin typeface="Arial" panose="020B0604020202020204" pitchFamily="34" charset="0"/>
              </a:rPr>
              <a:t>Final Assembly:</a:t>
            </a:r>
            <a:r>
              <a:rPr kumimoji="0" lang="en-US" altLang="en-US" sz="1000" b="0" i="0" u="none" strike="noStrike" cap="none" normalizeH="0" baseline="0">
                <a:ln>
                  <a:noFill/>
                </a:ln>
                <a:solidFill>
                  <a:schemeClr val="tx1"/>
                </a:solidFill>
                <a:effectLst/>
                <a:latin typeface="Arial" panose="020B0604020202020204" pitchFamily="34" charset="0"/>
              </a:rPr>
              <a:t> Once validated, the circuit is transferred to a PCB for final implementation. </a:t>
            </a:r>
          </a:p>
        </p:txBody>
      </p:sp>
      <p:sp>
        <p:nvSpPr>
          <p:cNvPr id="66" name="Rectangle 12"/>
          <p:cNvSpPr>
            <a:spLocks noChangeArrowheads="1"/>
          </p:cNvSpPr>
          <p:nvPr/>
        </p:nvSpPr>
        <p:spPr bwMode="auto">
          <a:xfrm>
            <a:off x="2557630" y="4201757"/>
            <a:ext cx="2442601" cy="1969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Arial" panose="020B0604020202020204" pitchFamily="34" charset="0"/>
              </a:rPr>
              <a:t>Engineering Standards:</a:t>
            </a:r>
            <a:r>
              <a:rPr kumimoji="0" lang="en-US" altLang="en-US" sz="800" b="0" i="0" u="none" strike="noStrike" cap="none" normalizeH="0" baseline="0" dirty="0">
                <a:ln>
                  <a:noFill/>
                </a:ln>
                <a:solidFill>
                  <a:schemeClr val="tx1"/>
                </a:solidFill>
                <a:effectLst/>
                <a:latin typeface="Arial" panose="020B0604020202020204" pitchFamily="34" charset="0"/>
              </a:rPr>
              <a:t> The project follows standard practices in circuit design and safety, ensuring reliable operation and compliance with general electronics guidelines.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Arial" panose="020B0604020202020204" pitchFamily="34" charset="0"/>
              </a:rPr>
              <a:t>Constraints:</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Arial" panose="020B0604020202020204" pitchFamily="34" charset="0"/>
              </a:rPr>
              <a:t>Cost:</a:t>
            </a:r>
            <a:r>
              <a:rPr kumimoji="0" lang="en-US" altLang="en-US" sz="800" b="0" i="0" u="none" strike="noStrike" cap="none" normalizeH="0" baseline="0" dirty="0">
                <a:ln>
                  <a:noFill/>
                </a:ln>
                <a:solidFill>
                  <a:schemeClr val="tx1"/>
                </a:solidFill>
                <a:effectLst/>
                <a:latin typeface="Arial" panose="020B0604020202020204" pitchFamily="34" charset="0"/>
              </a:rPr>
              <a:t> Use of affordable, readily available components.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Arial" panose="020B0604020202020204" pitchFamily="34" charset="0"/>
              </a:rPr>
              <a:t>Power Efficiency:</a:t>
            </a:r>
            <a:r>
              <a:rPr kumimoji="0" lang="en-US" altLang="en-US" sz="800" b="0" i="0" u="none" strike="noStrike" cap="none" normalizeH="0" baseline="0" dirty="0">
                <a:ln>
                  <a:noFill/>
                </a:ln>
                <a:solidFill>
                  <a:schemeClr val="tx1"/>
                </a:solidFill>
                <a:effectLst/>
                <a:latin typeface="Arial" panose="020B0604020202020204" pitchFamily="34" charset="0"/>
              </a:rPr>
              <a:t> Minimized power consumption for longer operational life.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Arial" panose="020B0604020202020204" pitchFamily="34" charset="0"/>
              </a:rPr>
              <a:t>Durability:</a:t>
            </a:r>
            <a:r>
              <a:rPr kumimoji="0" lang="en-US" altLang="en-US" sz="800" b="0" i="0" u="none" strike="noStrike" cap="none" normalizeH="0" baseline="0" dirty="0">
                <a:ln>
                  <a:noFill/>
                </a:ln>
                <a:solidFill>
                  <a:schemeClr val="tx1"/>
                </a:solidFill>
                <a:effectLst/>
                <a:latin typeface="Arial" panose="020B0604020202020204" pitchFamily="34" charset="0"/>
              </a:rPr>
              <a:t> Designed for reliable, long-term performance with minimal wear and tear.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Arial" panose="020B0604020202020204" pitchFamily="34" charset="0"/>
              </a:rPr>
              <a:t>Size:</a:t>
            </a:r>
            <a:r>
              <a:rPr kumimoji="0" lang="en-US" altLang="en-US" sz="800" b="0" i="0" u="none" strike="noStrike" cap="none" normalizeH="0" baseline="0" dirty="0">
                <a:ln>
                  <a:noFill/>
                </a:ln>
                <a:solidFill>
                  <a:schemeClr val="tx1"/>
                </a:solidFill>
                <a:effectLst/>
                <a:latin typeface="Arial" panose="020B0604020202020204" pitchFamily="34" charset="0"/>
              </a:rPr>
              <a:t> Compact design to ensure portability and easy integration.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9" name="Rectangle 13"/>
          <p:cNvSpPr>
            <a:spLocks noChangeArrowheads="1"/>
          </p:cNvSpPr>
          <p:nvPr/>
        </p:nvSpPr>
        <p:spPr bwMode="auto">
          <a:xfrm>
            <a:off x="5048313" y="1783296"/>
            <a:ext cx="233977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Increased Sensitivity:</a:t>
            </a:r>
            <a:r>
              <a:rPr kumimoji="0" lang="en-US" altLang="en-US" sz="1000" b="0" i="0" u="none" strike="noStrike" cap="none" normalizeH="0" baseline="0" dirty="0">
                <a:ln>
                  <a:noFill/>
                </a:ln>
                <a:solidFill>
                  <a:schemeClr val="tx1"/>
                </a:solidFill>
                <a:effectLst/>
                <a:latin typeface="Arial" panose="020B0604020202020204" pitchFamily="34" charset="0"/>
              </a:rPr>
              <a:t> Implementing a more sensitive touch or proximity sensor to improve responsiveness.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Wireless Control:</a:t>
            </a:r>
            <a:r>
              <a:rPr kumimoji="0" lang="en-US" altLang="en-US" sz="1000" b="0" i="0" u="none" strike="noStrike" cap="none" normalizeH="0" baseline="0" dirty="0">
                <a:ln>
                  <a:noFill/>
                </a:ln>
                <a:solidFill>
                  <a:schemeClr val="tx1"/>
                </a:solidFill>
                <a:effectLst/>
                <a:latin typeface="Arial" panose="020B0604020202020204" pitchFamily="34" charset="0"/>
              </a:rPr>
              <a:t> Integrating wireless technology, such as Bluetooth or Wi-Fi, for remote operation.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Environmental Resilience:</a:t>
            </a:r>
            <a:r>
              <a:rPr kumimoji="0" lang="en-US" altLang="en-US" sz="1000" b="0" i="0" u="none" strike="noStrike" cap="none" normalizeH="0" baseline="0" dirty="0">
                <a:ln>
                  <a:noFill/>
                </a:ln>
                <a:solidFill>
                  <a:schemeClr val="tx1"/>
                </a:solidFill>
                <a:effectLst/>
                <a:latin typeface="Arial" panose="020B0604020202020204" pitchFamily="34" charset="0"/>
              </a:rPr>
              <a:t> Enhancing the system’s ability to function in extreme conditions, like high humidity or temperature.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Miniaturization:</a:t>
            </a:r>
            <a:r>
              <a:rPr kumimoji="0" lang="en-US" altLang="en-US" sz="1000" b="0" i="0" u="none" strike="noStrike" cap="none" normalizeH="0" baseline="0" dirty="0">
                <a:ln>
                  <a:noFill/>
                </a:ln>
                <a:solidFill>
                  <a:schemeClr val="tx1"/>
                </a:solidFill>
                <a:effectLst/>
                <a:latin typeface="Arial" panose="020B0604020202020204" pitchFamily="34" charset="0"/>
              </a:rPr>
              <a:t> Further reducing the size of the circuit for more compact applications.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Arial" panose="020B0604020202020204" pitchFamily="34" charset="0"/>
              </a:rPr>
              <a:t>Power Efficiency:</a:t>
            </a:r>
            <a:r>
              <a:rPr kumimoji="0" lang="en-US" altLang="en-US" sz="1000" b="0" i="0" u="none" strike="noStrike" cap="none" normalizeH="0" baseline="0" dirty="0">
                <a:ln>
                  <a:noFill/>
                </a:ln>
                <a:solidFill>
                  <a:schemeClr val="tx1"/>
                </a:solidFill>
                <a:effectLst/>
                <a:latin typeface="Arial" panose="020B0604020202020204" pitchFamily="34" charset="0"/>
              </a:rPr>
              <a:t> Optimizing the circuit to reduce power consumption, possibly through energy-efficient components or sleep modes. </a:t>
            </a:r>
          </a:p>
        </p:txBody>
      </p:sp>
      <p:pic>
        <p:nvPicPr>
          <p:cNvPr id="21" name="Picture 20" descr="A diagram of a circuit&#10;&#10;Description automatically generated">
            <a:extLst>
              <a:ext uri="{FF2B5EF4-FFF2-40B4-BE49-F238E27FC236}">
                <a16:creationId xmlns:a16="http://schemas.microsoft.com/office/drawing/2014/main" id="{17558E47-0AE0-7BC0-01D9-97F455FE0A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1392" y="4760471"/>
            <a:ext cx="2362199" cy="8514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12423</TotalTime>
  <Words>754</Words>
  <Application>Microsoft Office PowerPoint</Application>
  <PresentationFormat>Custom</PresentationFormat>
  <Paragraphs>45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Office Theme</vt:lpstr>
      <vt:lpstr>Touch sensor using cd4017 ic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Final Poster.pptx</dc:title>
  <dc:creator>lakshman baskaran</dc:creator>
  <cp:lastModifiedBy>A B George</cp:lastModifiedBy>
  <cp:revision>32</cp:revision>
  <dcterms:created xsi:type="dcterms:W3CDTF">2024-04-20T08:08:28Z</dcterms:created>
  <dcterms:modified xsi:type="dcterms:W3CDTF">2024-10-25T16:46:45Z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2024-04-15T00:00:00Z</vt:filetime>
  </property>
  <property fmtid="{D5CDD505-2E9C-101B-9397-08002B2CF9AE}" pid="3" name="LastSaved">
    <vt:filetime>2024-04-20T00:00:00Z</vt:filetime>
  </property>
</Properties>
</file>